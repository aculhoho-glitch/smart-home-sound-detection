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42648"/>
                </a:solidFill>
                <a:latin typeface="Arial"/>
              </a:rPr>
              <a:t>MLPC 2026 Task 5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6868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3661AA"/>
                </a:solidFill>
                <a:latin typeface="Arial"/>
              </a:rPr>
              <a:t>Sound Event Detection with Classical Classifiers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40280"/>
            <a:ext cx="9966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142648"/>
                </a:solidFill>
                <a:latin typeface="Arial"/>
              </a:rPr>
              <a:t>Team TEAMNAME
Luca Kasian Koren · Author Name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87878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42648"/>
                </a:solidFill>
                <a:latin typeface="Arial"/>
              </a:rPr>
              <a:t>Task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>
                <a:solidFill>
                  <a:srgbClr val="1E1E1E"/>
                </a:solidFill>
                <a:latin typeface="Arial"/>
              </a:rPr>
              <a:t>• Detect 15 domestic sound event classes over time.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1E1E1E"/>
                </a:solidFill>
                <a:latin typeface="Arial"/>
              </a:rPr>
              <a:t>• Input: pre-computed audio feature files (.npz).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1E1E1E"/>
                </a:solidFill>
                <a:latin typeface="Arial"/>
              </a:rPr>
              <a:t>• Output: CSV with filename, annotation, onset, and offset.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1E1E1E"/>
                </a:solidFill>
                <a:latin typeface="Arial"/>
              </a:rPr>
              <a:t>• Metric: Segment-based Macro F1 Score.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8787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42648"/>
                </a:solidFill>
                <a:latin typeface="Arial"/>
              </a:rPr>
              <a:t>System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E1E1E"/>
                </a:solidFill>
                <a:latin typeface="Arial"/>
              </a:rPr>
              <a:t>• Audio recordings are divided into 1-second segments.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E1E1E"/>
                </a:solidFill>
                <a:latin typeface="Arial"/>
              </a:rPr>
              <a:t>• Each segment is represented by acoustic features such as MFCC, mel spectrogram, energy, and spectral descriptors.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E1E1E"/>
                </a:solidFill>
                <a:latin typeface="Arial"/>
              </a:rPr>
              <a:t>• A multi-label classifier predicts active classes per segment.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E1E1E"/>
                </a:solidFill>
                <a:latin typeface="Arial"/>
              </a:rPr>
              <a:t>• Segment predictions are converted into onset/offset event intervals.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8787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42648"/>
                </a:solidFill>
                <a:latin typeface="Arial"/>
              </a:rPr>
              <a:t>Baseline Reproduction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300">
                <a:solidFill>
                  <a:srgbClr val="1E1E1E"/>
                </a:solidFill>
                <a:latin typeface="Arial"/>
              </a:rPr>
              <a:t>• Baseline: independent binary Decision Tree classifiers.</a:t>
            </a:r>
          </a:p>
          <a:p>
            <a:pPr>
              <a:spcAft>
                <a:spcPts val="1200"/>
              </a:spcAft>
            </a:pPr>
            <a:r>
              <a:rPr sz="2300">
                <a:solidFill>
                  <a:srgbClr val="1E1E1E"/>
                </a:solidFill>
                <a:latin typeface="Arial"/>
              </a:rPr>
              <a:t>• Validation Macro F1: 0.3072.</a:t>
            </a:r>
          </a:p>
          <a:p>
            <a:pPr>
              <a:spcAft>
                <a:spcPts val="1200"/>
              </a:spcAft>
            </a:pPr>
            <a:r>
              <a:rPr sz="2300">
                <a:solidFill>
                  <a:srgbClr val="1E1E1E"/>
                </a:solidFill>
                <a:latin typeface="Arial"/>
              </a:rPr>
              <a:t>• Non-hidden test Macro F1: 0.3170.</a:t>
            </a:r>
          </a:p>
          <a:p>
            <a:pPr>
              <a:spcAft>
                <a:spcPts val="1200"/>
              </a:spcAft>
            </a:pPr>
            <a:r>
              <a:rPr sz="2300">
                <a:solidFill>
                  <a:srgbClr val="1E1E1E"/>
                </a:solidFill>
                <a:latin typeface="Arial"/>
              </a:rPr>
              <a:t>• Limitations: independent segments, coarse 1-second resolution, weak handling of short events.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87878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42648"/>
                </a:solidFill>
                <a:latin typeface="Arial"/>
              </a:rPr>
              <a:t>Improved Classifier: ExtraTrees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011680" y="1325880"/>
          <a:ext cx="813816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4540"/>
                <a:gridCol w="2034540"/>
                <a:gridCol w="2034540"/>
                <a:gridCol w="2034540"/>
              </a:tblGrid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Trees</a:t>
                      </a:r>
                    </a:p>
                  </a:txBody>
                  <a:tcPr>
                    <a:solidFill>
                      <a:srgbClr val="3661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Depth</a:t>
                      </a:r>
                    </a:p>
                  </a:txBody>
                  <a:tcPr>
                    <a:solidFill>
                      <a:srgbClr val="3661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Leaf</a:t>
                      </a:r>
                    </a:p>
                  </a:txBody>
                  <a:tcPr>
                    <a:solidFill>
                      <a:srgbClr val="3661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Val. F1</a:t>
                      </a:r>
                    </a:p>
                  </a:txBody>
                  <a:tcPr>
                    <a:solidFill>
                      <a:srgbClr val="3661AA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1E1E1E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1E1E1E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1E1E1E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1E1E1E"/>
                          </a:solidFill>
                          <a:latin typeface="Arial"/>
                        </a:rPr>
                        <a:t>0.4243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1E1E1E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1E1E1E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1E1E1E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1E1E1E"/>
                          </a:solidFill>
                          <a:latin typeface="Arial"/>
                        </a:rPr>
                        <a:t>0.4262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1E1E1E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1E1E1E"/>
                          </a:solidFill>
                          <a:latin typeface="Arial"/>
                        </a:rP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1E1E1E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1E1E1E"/>
                          </a:solidFill>
                          <a:latin typeface="Arial"/>
                        </a:rPr>
                        <a:t>0.2999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3429000"/>
            <a:ext cx="10332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E1E1E"/>
                </a:solidFill>
                <a:latin typeface="Arial"/>
              </a:rPr>
              <a:t>• Best setting: 100 trees, max depth 20, leaf size 1.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E1E1E"/>
                </a:solidFill>
                <a:latin typeface="Arial"/>
              </a:rPr>
              <a:t>• Non-hidden test Macro F1 improved from 0.3170 to 0.4346.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E1E1E"/>
                </a:solidFill>
                <a:latin typeface="Arial"/>
              </a:rPr>
              <a:t>• Best classes: running water, vacuum cleaner, microwave, keyboard typing.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87878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42648"/>
                </a:solidFill>
                <a:latin typeface="Arial"/>
              </a:rPr>
              <a:t>Post-Processing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194560" y="1325880"/>
          <a:ext cx="77724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800"/>
                <a:gridCol w="2590800"/>
                <a:gridCol w="2590800"/>
              </a:tblGrid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Window</a:t>
                      </a:r>
                    </a:p>
                  </a:txBody>
                  <a:tcPr>
                    <a:solidFill>
                      <a:srgbClr val="3661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Val. F1</a:t>
                      </a:r>
                    </a:p>
                  </a:txBody>
                  <a:tcPr>
                    <a:solidFill>
                      <a:srgbClr val="3661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Test F1</a:t>
                      </a:r>
                    </a:p>
                  </a:txBody>
                  <a:tcPr>
                    <a:solidFill>
                      <a:srgbClr val="3661AA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1E1E1E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1E1E1E"/>
                          </a:solidFill>
                          <a:latin typeface="Arial"/>
                        </a:rPr>
                        <a:t>0.4262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1E1E1E"/>
                          </a:solidFill>
                          <a:latin typeface="Arial"/>
                        </a:rPr>
                        <a:t>0.4346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1E1E1E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1E1E1E"/>
                          </a:solidFill>
                          <a:latin typeface="Arial"/>
                        </a:rPr>
                        <a:t>0.3969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1E1E1E"/>
                          </a:solidFill>
                          <a:latin typeface="Arial"/>
                        </a:rPr>
                        <a:t>0.4059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1E1E1E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1E1E1E"/>
                          </a:solidFill>
                          <a:latin typeface="Arial"/>
                        </a:rPr>
                        <a:t>0.3683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1E1E1E"/>
                          </a:solidFill>
                          <a:latin typeface="Arial"/>
                        </a:rPr>
                        <a:t>0.3703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05840" y="3429000"/>
            <a:ext cx="10058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300">
                <a:solidFill>
                  <a:srgbClr val="1E1E1E"/>
                </a:solidFill>
                <a:latin typeface="Arial"/>
              </a:rPr>
              <a:t>• Median filtering reduced noisy isolated predictions.</a:t>
            </a:r>
          </a:p>
          <a:p>
            <a:pPr>
              <a:spcAft>
                <a:spcPts val="1200"/>
              </a:spcAft>
            </a:pPr>
            <a:r>
              <a:rPr sz="2300">
                <a:solidFill>
                  <a:srgbClr val="1E1E1E"/>
                </a:solidFill>
                <a:latin typeface="Arial"/>
              </a:rPr>
              <a:t>• But it also removed many true short events.</a:t>
            </a:r>
          </a:p>
          <a:p>
            <a:pPr>
              <a:spcAft>
                <a:spcPts val="1200"/>
              </a:spcAft>
            </a:pPr>
            <a:r>
              <a:rPr sz="2300">
                <a:solidFill>
                  <a:srgbClr val="1E1E1E"/>
                </a:solidFill>
                <a:latin typeface="Arial"/>
              </a:rPr>
              <a:t>• Final system: ExtraTrees without median filtering.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87878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42648"/>
                </a:solidFill>
                <a:latin typeface="Arial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>
                <a:solidFill>
                  <a:srgbClr val="1E1E1E"/>
                </a:solidFill>
                <a:latin typeface="Arial"/>
              </a:rPr>
              <a:t>• ExtraTrees clearly improved over the baseline.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1E1E1E"/>
                </a:solidFill>
                <a:latin typeface="Arial"/>
              </a:rPr>
              <a:t>• Longer and characteristic sounds were easier to detect.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1E1E1E"/>
                </a:solidFill>
                <a:latin typeface="Arial"/>
              </a:rPr>
              <a:t>• Short or acoustically similar sounds remained challenging.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1E1E1E"/>
                </a:solidFill>
                <a:latin typeface="Arial"/>
              </a:rPr>
              <a:t>• Final hidden test submission: predictions_hidden_test_extratrees.csv.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87878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